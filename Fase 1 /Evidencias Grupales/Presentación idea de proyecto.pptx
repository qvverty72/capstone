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f4cd238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f4cd238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f4cd238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f4cd238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f4cd238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9f4cd238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f4cd238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9f4cd238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f4cd238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9f4cd238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9f4cd238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9f4cd238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f4cd238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9f4cd238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2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CampusLink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/>
              <a:t>Proyecto de Capstone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Juan-Pablo Arriagada - Brian Chavez - Carlos Soto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423800"/>
            <a:ext cx="242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estudiantes tienen dificultades para acceder, descubrir y reutilizar recursos académicos y actividades relevantes dentro de su comunidad educativa.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Material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Académico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usar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Desconexión Estudiantil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Coordinación Inexistente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910375" y="2423800"/>
            <a:ext cx="3107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orientada a la comunidad estudiantil, que centraliza la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publicación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búsqueda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recomendación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intercambio de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económicos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junto con la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difusión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actividades dentro de la </a:t>
            </a: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institución.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2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-419" sz="14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Traspaso de Recursos entre generaciones</a:t>
            </a:r>
            <a:endParaRPr sz="14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-419" sz="14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Trazabilidad completa de cada Intercambio</a:t>
            </a:r>
            <a:endParaRPr sz="14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-419" sz="14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Comunidad visible en el campus</a:t>
            </a:r>
            <a:endParaRPr sz="14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31700"/>
            <a:ext cx="24267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accent3"/>
                </a:solidFill>
              </a:rPr>
              <a:t>Problemática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910150" y="2031700"/>
            <a:ext cx="25080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Propuesta de Solución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Objetivos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1806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419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Diseñar e implementar una plataforma digital orientada a la comunidad estudiantil que permita facilitar la publicación, búsqueda, recomendación e intercambio seguro de recursos académicos, así como la difusión y participación en actividades dentro de la institución, con el propósito de mejorar la reutilización de recursos y el acceso a información relevante para los estudiantes.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389450" y="2713825"/>
            <a:ext cx="70287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1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Lograr que, durante el primer semestre de implementación, al menos el 50% de los usuarios registrados publique, solicite o interactúe con al menos un recurso académico.</a:t>
            </a:r>
            <a:endParaRPr sz="1108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90475" y="2814050"/>
            <a:ext cx="437400" cy="402600"/>
          </a:xfrm>
          <a:prstGeom prst="flowChartAlternateProcess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90475" y="3446725"/>
            <a:ext cx="437400" cy="402600"/>
          </a:xfrm>
          <a:prstGeom prst="flowChartAlternateProcess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890475" y="4029500"/>
            <a:ext cx="437400" cy="402600"/>
          </a:xfrm>
          <a:prstGeom prst="flowChartAlternateProcess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90475" y="4612275"/>
            <a:ext cx="437400" cy="402600"/>
          </a:xfrm>
          <a:prstGeom prst="flowChartAlternateProcess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1389450" y="3396625"/>
            <a:ext cx="70287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Alcanzar una tasa mínima del 60% de solicitudes de recursos que finalicen exitosamente mediante procesos de venta o donación durante el primer semestre del lanzamiento.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1389450" y="3979400"/>
            <a:ext cx="70287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Alcanzar la creación de, al menos, 30 actividades o grupos de estudio mensuales por parte de los estudiantes durante el primer semestre del lanzamiento de operación.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1389450" y="4562175"/>
            <a:ext cx="70287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Conseguir registrar un mínimo de 5 publicaciones oficiales mensuales por parte de usuarios autorizados.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Alcances y limitaciones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729450" y="2455025"/>
            <a:ext cx="3536400" cy="25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Gestión</a:t>
            </a:r>
            <a:r>
              <a:rPr lang="es-419"/>
              <a:t> de Usuarios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Gestión</a:t>
            </a:r>
            <a:r>
              <a:rPr lang="es-419"/>
              <a:t> de recursos </a:t>
            </a:r>
            <a:r>
              <a:rPr lang="es-419"/>
              <a:t>Académicos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Gestión</a:t>
            </a:r>
            <a:r>
              <a:rPr lang="es-419"/>
              <a:t> Transaccional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Recomendación</a:t>
            </a:r>
            <a:r>
              <a:rPr lang="es-419"/>
              <a:t> y </a:t>
            </a:r>
            <a:r>
              <a:rPr lang="es-419"/>
              <a:t>Personalización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Mapa y Actividades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Analítica y </a:t>
            </a:r>
            <a:r>
              <a:rPr lang="es-419"/>
              <a:t>Reportería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4572000" y="2455025"/>
            <a:ext cx="3536400" cy="25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No procesa pagos electrónicos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No verificará físicamente el estado de calidad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No </a:t>
            </a:r>
            <a:r>
              <a:rPr lang="es-419"/>
              <a:t>permitirá</a:t>
            </a:r>
            <a:r>
              <a:rPr lang="es-419"/>
              <a:t> material con Copyright de terceros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No </a:t>
            </a:r>
            <a:r>
              <a:rPr lang="es-419"/>
              <a:t>rastreará la ubicación de los estudiantes</a:t>
            </a:r>
            <a:r>
              <a:rPr lang="es-419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No reemplazará los canales oficiales de comunicación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29450" y="1924850"/>
            <a:ext cx="353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proyecto SÍ hará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0" y="1924838"/>
            <a:ext cx="353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El proyecto NO hará</a:t>
            </a:r>
            <a:endParaRPr sz="13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Metodología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729450" y="2078875"/>
            <a:ext cx="76887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s-419" sz="1115"/>
              <a:t>Enfoque</a:t>
            </a:r>
            <a:r>
              <a:rPr lang="es-419" sz="1115"/>
              <a:t> ágil con Scrum, en sprints de 1 semana</a:t>
            </a:r>
            <a:endParaRPr sz="1115"/>
          </a:p>
        </p:txBody>
      </p:sp>
      <p:sp>
        <p:nvSpPr>
          <p:cNvPr id="126" name="Google Shape;126;p17"/>
          <p:cNvSpPr txBox="1"/>
          <p:nvPr/>
        </p:nvSpPr>
        <p:spPr>
          <a:xfrm>
            <a:off x="764900" y="3066350"/>
            <a:ext cx="18636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 y Sprint Backlog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Historias de usuario priorizadas y trabajo comprometido por sprint.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1487750" y="2571738"/>
            <a:ext cx="417900" cy="3843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/home/claude/pptxgen/icons/clipboard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23722" t="0"/>
          <a:stretch/>
        </p:blipFill>
        <p:spPr>
          <a:xfrm>
            <a:off x="1569225" y="2590088"/>
            <a:ext cx="256625" cy="3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2847350" y="3066350"/>
            <a:ext cx="18636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Ceremonias semanales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Sprint Planning, seguimiento y 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Retrospectiva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al cierre de cada sprint.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929800" y="3066350"/>
            <a:ext cx="18636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Definition of Done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Criterios de calidad claros para dar por 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cada entregable.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7012250" y="3066350"/>
            <a:ext cx="18636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Equipo </a:t>
            </a: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auto organizado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Brian Chávez. Carlos Soto, Juan-Pablo Arriagada, con roles rotativos 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el sprint.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570200" y="2594600"/>
            <a:ext cx="417900" cy="3843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/home/claude/pptxgen/icons/clipboard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23722" t="0"/>
          <a:stretch/>
        </p:blipFill>
        <p:spPr>
          <a:xfrm>
            <a:off x="4445488" y="2262675"/>
            <a:ext cx="256625" cy="3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652650" y="2594600"/>
            <a:ext cx="417900" cy="3843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7735100" y="2594600"/>
            <a:ext cx="417900" cy="3843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/home/claude/pptxgen/icons/sync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4616" y="2632216"/>
            <a:ext cx="309067" cy="30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gen/icons/shield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7066" y="2632216"/>
            <a:ext cx="309067" cy="30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gen/icons/users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9516" y="2632216"/>
            <a:ext cx="309067" cy="30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Tecnología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729450" y="1853850"/>
            <a:ext cx="2678700" cy="125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5000" dir="5400000" dist="8000">
              <a:srgbClr val="94A3B8">
                <a:alpha val="20000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b="1" lang="es-419" sz="1300">
                <a:solidFill>
                  <a:schemeClr val="dk1"/>
                </a:solidFill>
              </a:rPr>
              <a:t>MULTIPLATAFORMA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419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Native &amp; Expo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Modelado 3D Blender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Three Fiber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3547175" y="1853850"/>
            <a:ext cx="2678700" cy="125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5000" dir="5400000" dist="8000">
              <a:srgbClr val="94A3B8">
                <a:alpha val="20000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BACKEND DOCKERIZADO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Node.js &amp; Express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Contenedores Docker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API REST Estructurada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F172A"/>
              </a:solidFill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364900" y="1853850"/>
            <a:ext cx="2678700" cy="125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5000" dir="5400000" dist="8000">
              <a:srgbClr val="94A3B8">
                <a:alpha val="20000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BASE DE DATOS SQL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Supabase (PostgreSQL)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Modelo Relacional SQL</a:t>
            </a:r>
            <a:endParaRPr b="1" sz="115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NoSQL(MongoDB)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</a:rPr>
              <a:t>Autenticación Integrada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425" y="3168325"/>
            <a:ext cx="1011000" cy="10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448" y="4242800"/>
            <a:ext cx="1136950" cy="7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1350" y="3168325"/>
            <a:ext cx="1136950" cy="10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6675" y="3168325"/>
            <a:ext cx="1679700" cy="8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150" y="4288842"/>
            <a:ext cx="1106325" cy="6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2875" y="4263475"/>
            <a:ext cx="1074476" cy="6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26625" y="4377775"/>
            <a:ext cx="1679700" cy="4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12225" y="3285638"/>
            <a:ext cx="776374" cy="7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61194" y="3318834"/>
            <a:ext cx="1136949" cy="709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37400" y="4028820"/>
            <a:ext cx="1460921" cy="1011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000" dir="5400000" dist="8000">
              <a:srgbClr val="94A3B8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Cronograma</a:t>
            </a:r>
            <a:endParaRPr/>
          </a:p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729450" y="2078875"/>
            <a:ext cx="76887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14 Sprints de 1 semana, organizados en 4 Hitos y 3 Fases</a:t>
            </a:r>
            <a:endParaRPr/>
          </a:p>
        </p:txBody>
      </p:sp>
      <p:cxnSp>
        <p:nvCxnSpPr>
          <p:cNvPr id="163" name="Google Shape;163;p19"/>
          <p:cNvCxnSpPr/>
          <p:nvPr/>
        </p:nvCxnSpPr>
        <p:spPr>
          <a:xfrm>
            <a:off x="497424" y="3041833"/>
            <a:ext cx="8337000" cy="0"/>
          </a:xfrm>
          <a:prstGeom prst="straightConnector1">
            <a:avLst/>
          </a:prstGeom>
          <a:noFill/>
          <a:ln cap="flat" cmpd="sng" w="2047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/>
          <p:nvPr/>
        </p:nvSpPr>
        <p:spPr>
          <a:xfrm>
            <a:off x="534314" y="2783600"/>
            <a:ext cx="516600" cy="516600"/>
          </a:xfrm>
          <a:prstGeom prst="ellipse">
            <a:avLst/>
          </a:prstGeom>
          <a:solidFill>
            <a:srgbClr val="1F2A52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gen/icons/flag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66" y="2907552"/>
            <a:ext cx="268560" cy="2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202300" y="3189394"/>
            <a:ext cx="2213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52"/>
              </a:buClr>
              <a:buSzPts val="1210"/>
              <a:buFont typeface="Calibri"/>
              <a:buNone/>
            </a:pPr>
            <a:r>
              <a:rPr b="1" i="0" lang="es-419" sz="1210" u="none" cap="none" strike="noStrike">
                <a:solidFill>
                  <a:srgbClr val="1F2A52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02300" y="3462383"/>
            <a:ext cx="2213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928"/>
              <a:buFont typeface="Calibri"/>
              <a:buNone/>
            </a:pPr>
            <a:r>
              <a:rPr b="1" i="0" lang="es-419" sz="928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r>
              <a:rPr b="1" lang="es-419" sz="928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 b="0" i="0" sz="9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76081" y="3742750"/>
            <a:ext cx="20658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8"/>
              <a:buFont typeface="Calibri"/>
              <a:buNone/>
            </a:pPr>
            <a:r>
              <a:rPr b="0" i="0" lang="es-419" sz="88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Definición del proyecto: fundamentación, objetivos, alcance.</a:t>
            </a:r>
            <a:endParaRPr b="0" i="0" sz="8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710851" y="2783600"/>
            <a:ext cx="516600" cy="51660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gen/icons/search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803" y="2907552"/>
            <a:ext cx="268560" cy="2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2378837" y="3189394"/>
            <a:ext cx="2213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52"/>
              </a:buClr>
              <a:buSzPts val="1210"/>
              <a:buFont typeface="Calibri"/>
              <a:buNone/>
            </a:pPr>
            <a:r>
              <a:rPr b="1" i="0" lang="es-419" sz="1210" u="none" cap="none" strike="noStrike">
                <a:solidFill>
                  <a:srgbClr val="1F2A52"/>
                </a:solidFill>
                <a:latin typeface="Calibri"/>
                <a:ea typeface="Calibri"/>
                <a:cs typeface="Calibri"/>
                <a:sym typeface="Calibri"/>
              </a:rPr>
              <a:t>Fase 2 · Avance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378837" y="3462383"/>
            <a:ext cx="2213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928"/>
              <a:buFont typeface="Calibri"/>
              <a:buNone/>
            </a:pPr>
            <a:r>
              <a:rPr b="1" i="0" lang="es-419" sz="928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r>
              <a:rPr b="1" lang="es-419" sz="928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 1 - 4</a:t>
            </a:r>
            <a:endParaRPr b="0" i="0" sz="9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452618" y="3742750"/>
            <a:ext cx="20658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8"/>
              <a:buFont typeface="Calibri"/>
              <a:buNone/>
            </a:pPr>
            <a:r>
              <a:rPr b="0" i="0" lang="es-419" sz="88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Requerimientos ágiles, modelamiento de datos y arquitectura.</a:t>
            </a:r>
            <a:endParaRPr b="0" i="0" sz="8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887389" y="2783600"/>
            <a:ext cx="516600" cy="516600"/>
          </a:xfrm>
          <a:prstGeom prst="ellipse">
            <a:avLst/>
          </a:prstGeom>
          <a:solidFill>
            <a:srgbClr val="1F2A52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gen/icons/tasks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1340" y="2907552"/>
            <a:ext cx="268560" cy="2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4555374" y="3189394"/>
            <a:ext cx="2213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52"/>
              </a:buClr>
              <a:buSzPts val="1210"/>
              <a:buFont typeface="Calibri"/>
              <a:buNone/>
            </a:pPr>
            <a:r>
              <a:rPr b="1" i="0" lang="es-419" sz="1210" u="none" cap="none" strike="noStrike">
                <a:solidFill>
                  <a:srgbClr val="1F2A52"/>
                </a:solidFill>
                <a:latin typeface="Calibri"/>
                <a:ea typeface="Calibri"/>
                <a:cs typeface="Calibri"/>
                <a:sym typeface="Calibri"/>
              </a:rPr>
              <a:t>Fase 2 · Final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555374" y="3462383"/>
            <a:ext cx="2213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928"/>
              <a:buFont typeface="Calibri"/>
              <a:buNone/>
            </a:pPr>
            <a:r>
              <a:rPr b="1" i="0" lang="es-419" sz="928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Sprints </a:t>
            </a:r>
            <a:r>
              <a:rPr b="1" lang="es-419" sz="928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5 - 10 </a:t>
            </a:r>
            <a:endParaRPr b="0" i="0" sz="9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629155" y="3742750"/>
            <a:ext cx="20658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8"/>
              <a:buFont typeface="Calibri"/>
              <a:buNone/>
            </a:pPr>
            <a:r>
              <a:rPr b="0" i="0" lang="es-419" sz="88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Implementación de backend, seguridad, frontend e integración.</a:t>
            </a:r>
            <a:endParaRPr b="0" i="0" sz="8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063926" y="2783600"/>
            <a:ext cx="516600" cy="51660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gen/icons/calendar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7878" y="2907552"/>
            <a:ext cx="268560" cy="2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6731912" y="3189394"/>
            <a:ext cx="2213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52"/>
              </a:buClr>
              <a:buSzPts val="1210"/>
              <a:buFont typeface="Calibri"/>
              <a:buNone/>
            </a:pPr>
            <a:r>
              <a:rPr b="1" i="0" lang="es-419" sz="1210" u="none" cap="none" strike="noStrike">
                <a:solidFill>
                  <a:srgbClr val="1F2A52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731912" y="3462383"/>
            <a:ext cx="2213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928"/>
              <a:buFont typeface="Calibri"/>
              <a:buNone/>
            </a:pPr>
            <a:r>
              <a:rPr b="1" i="0" lang="es-419" sz="928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Sprints 1</a:t>
            </a:r>
            <a:r>
              <a:rPr b="1" lang="es-419" sz="928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s-419" sz="928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–1</a:t>
            </a:r>
            <a:r>
              <a:rPr b="1" lang="es-419" sz="928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805693" y="3742750"/>
            <a:ext cx="20658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750" spcFirstLastPara="1" rIns="73750" wrap="square" tIns="3690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8"/>
              <a:buFont typeface="Calibri"/>
              <a:buNone/>
            </a:pPr>
            <a:r>
              <a:rPr b="0" i="0" lang="es-419" sz="88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Despliegue, pruebas, retrospectiva y presentación final.</a:t>
            </a:r>
            <a:endParaRPr b="0" i="0" sz="8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Comentarios Finales</a:t>
            </a:r>
            <a:endParaRPr/>
          </a:p>
        </p:txBody>
      </p:sp>
      <p:pic>
        <p:nvPicPr>
          <p:cNvPr id="189" name="Google Shape;189;p20" title="798aa233380c2eeedb63a554e0ff7c3a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025" y="1853850"/>
            <a:ext cx="4665949" cy="31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